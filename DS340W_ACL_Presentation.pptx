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5"/>
    <p:restoredTop sz="94661"/>
  </p:normalViewPr>
  <p:slideViewPr>
    <p:cSldViewPr snapToGrid="0" snapToObjects="1">
      <p:cViewPr>
        <p:scale>
          <a:sx n="97" d="100"/>
          <a:sy n="97" d="100"/>
        </p:scale>
        <p:origin x="1344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9144000" cy="164592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Quantifying the "Cutting Signature"</a:t>
            </a:r>
          </a:p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sz="2600" b="0" i="0">
                <a:solidFill>
                  <a:srgbClr val="ECF0F1"/>
                </a:solidFill>
                <a:latin typeface="Calibri"/>
              </a:rPr>
              <a:t>A Multi-Algorithm Approach to Predicting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600" b="0" i="0">
                <a:solidFill>
                  <a:srgbClr val="ECF0F1"/>
                </a:solidFill>
                <a:latin typeface="Calibri"/>
              </a:rPr>
              <a:t>ACL Injury Risk in Athletes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3566160"/>
            <a:ext cx="4572000" cy="4572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39C12"/>
                </a:solidFill>
                <a:latin typeface="Calibri"/>
              </a:rPr>
              <a:t>Moulik Jain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400" b="0" i="0">
                <a:solidFill>
                  <a:srgbClr val="BDC3C7"/>
                </a:solidFill>
                <a:latin typeface="Calibri"/>
              </a:rPr>
              <a:t>College of Information Sciences and Technology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BDC3C7"/>
                </a:solidFill>
                <a:latin typeface="Calibri"/>
              </a:rPr>
              <a:t>The Pennsylvania State University</a:t>
            </a:r>
          </a:p>
          <a:p>
            <a:pPr algn="ctr">
              <a:spcBef>
                <a:spcPts val="800"/>
              </a:spcBef>
              <a:spcAft>
                <a:spcPts val="400"/>
              </a:spcAft>
            </a:pPr>
            <a:r>
              <a:rPr sz="1300" b="0" i="0">
                <a:solidFill>
                  <a:srgbClr val="00878A"/>
                </a:solidFill>
                <a:latin typeface="Calibri"/>
              </a:rPr>
              <a:t>DS 340W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1078992"/>
            <a:ext cx="7772400" cy="54864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Project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07008"/>
            <a:ext cx="7772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00878A"/>
                </a:solidFill>
                <a:latin typeface="Calibri"/>
              </a:rPr>
              <a:t>What </a:t>
            </a:r>
            <a:r>
              <a:rPr lang="en-US" sz="1600" i="1" dirty="0">
                <a:solidFill>
                  <a:srgbClr val="00878A"/>
                </a:solidFill>
                <a:latin typeface="Calibri"/>
              </a:rPr>
              <a:t>I</a:t>
            </a:r>
            <a:r>
              <a:rPr sz="1600" b="0" i="1" dirty="0">
                <a:solidFill>
                  <a:srgbClr val="00878A"/>
                </a:solidFill>
                <a:latin typeface="Calibri"/>
              </a:rPr>
              <a:t> did, and how this talk is structured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3749039" cy="4480560"/>
          </a:xfrm>
          <a:prstGeom prst="rect">
            <a:avLst/>
          </a:prstGeom>
          <a:solidFill>
            <a:srgbClr val="2C3E50"/>
          </a:solidFill>
          <a:ln w="19050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0" y="1600200"/>
            <a:ext cx="4023360" cy="4480560"/>
          </a:xfrm>
          <a:prstGeom prst="rect">
            <a:avLst/>
          </a:prstGeom>
          <a:solidFill>
            <a:srgbClr val="2C3E50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3611880" cy="2836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 dirty="0">
                <a:solidFill>
                  <a:srgbClr val="00878A"/>
                </a:solidFill>
                <a:latin typeface="Calibri"/>
              </a:rPr>
              <a:t>First 5 Minutes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 i="1" dirty="0">
                <a:solidFill>
                  <a:srgbClr val="BDC3C7"/>
                </a:solidFill>
                <a:latin typeface="Calibri"/>
              </a:rPr>
              <a:t>Background &amp; Prior Art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sz="1300" b="0" i="1" dirty="0">
              <a:solidFill>
                <a:srgbClr val="BDC3C7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 dirty="0">
                <a:solidFill>
                  <a:srgbClr val="FFFFFF"/>
                </a:solidFill>
                <a:latin typeface="Calibri"/>
              </a:rPr>
              <a:t>  Introduction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 dirty="0">
                <a:solidFill>
                  <a:srgbClr val="ECF0F1"/>
                </a:solidFill>
                <a:latin typeface="Calibri"/>
              </a:rPr>
              <a:t>    ▸ ACL injury scale &amp; clinical impact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 dirty="0">
                <a:solidFill>
                  <a:srgbClr val="ECF0F1"/>
                </a:solidFill>
                <a:latin typeface="Calibri"/>
              </a:rPr>
              <a:t>    ▸ Scalability problem in sports medicine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 dirty="0">
                <a:solidFill>
                  <a:srgbClr val="ECF0F1"/>
                </a:solidFill>
                <a:latin typeface="Calibri"/>
              </a:rPr>
              <a:t>    ▸ Research questions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sz="1100" b="0" i="0" dirty="0">
              <a:solidFill>
                <a:srgbClr val="ECF0F1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 dirty="0">
                <a:solidFill>
                  <a:srgbClr val="FFFFFF"/>
                </a:solidFill>
                <a:latin typeface="Calibri"/>
              </a:rPr>
              <a:t>  Literature Review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 dirty="0">
                <a:solidFill>
                  <a:srgbClr val="ECF0F1"/>
                </a:solidFill>
                <a:latin typeface="Calibri"/>
              </a:rPr>
              <a:t>    ▸ Jauhiainen (2022): SVM, AUC = 0.63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 dirty="0">
                <a:solidFill>
                  <a:srgbClr val="ECF0F1"/>
                </a:solidFill>
                <a:latin typeface="Calibri"/>
              </a:rPr>
              <a:t>    ▸ Taborri (2021): Wearable IMU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 dirty="0">
                <a:solidFill>
                  <a:srgbClr val="ECF0F1"/>
                </a:solidFill>
                <a:latin typeface="Calibri"/>
              </a:rPr>
              <a:t>    ▸ Guo (2025): RF, AUC = 0.80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 dirty="0">
                <a:solidFill>
                  <a:srgbClr val="ECF0F1"/>
                </a:solidFill>
                <a:latin typeface="Calibri"/>
              </a:rPr>
              <a:t>    ▸ Research gaps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1645920"/>
            <a:ext cx="3931920" cy="308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 dirty="0">
                <a:solidFill>
                  <a:srgbClr val="27AE60"/>
                </a:solidFill>
                <a:latin typeface="Calibri"/>
              </a:rPr>
              <a:t>Next 10 Minutes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US" sz="1300" b="0" i="1" dirty="0">
                <a:solidFill>
                  <a:srgbClr val="BDC3C7"/>
                </a:solidFill>
                <a:latin typeface="Calibri"/>
              </a:rPr>
              <a:t>My</a:t>
            </a:r>
            <a:r>
              <a:rPr sz="1300" b="0" i="1" dirty="0">
                <a:solidFill>
                  <a:srgbClr val="BDC3C7"/>
                </a:solidFill>
                <a:latin typeface="Calibri"/>
              </a:rPr>
              <a:t> Contribution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sz="1300" b="0" i="1" dirty="0">
              <a:solidFill>
                <a:srgbClr val="BDC3C7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 dirty="0">
                <a:solidFill>
                  <a:srgbClr val="FFFFFF"/>
                </a:solidFill>
                <a:latin typeface="Calibri"/>
              </a:rPr>
              <a:t>  Methodology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 dirty="0">
                <a:solidFill>
                  <a:srgbClr val="ECF0F1"/>
                </a:solidFill>
                <a:latin typeface="Calibri"/>
              </a:rPr>
              <a:t>    ▸ Multi-dataset fusion (6,430 athletes)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 dirty="0">
                <a:solidFill>
                  <a:srgbClr val="ECF0F1"/>
                </a:solidFill>
                <a:latin typeface="Calibri"/>
              </a:rPr>
              <a:t>    ▸ Cutting Signature engineering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 dirty="0">
                <a:solidFill>
                  <a:srgbClr val="ECF0F1"/>
                </a:solidFill>
                <a:latin typeface="Calibri"/>
              </a:rPr>
              <a:t>    ▸ 6-Way Technique Tournament (T0–T5)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sz="1100" b="0" i="0" dirty="0">
              <a:solidFill>
                <a:srgbClr val="ECF0F1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 dirty="0">
                <a:solidFill>
                  <a:srgbClr val="FFFFFF"/>
                </a:solidFill>
                <a:latin typeface="Calibri"/>
              </a:rPr>
              <a:t>  Novelty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 dirty="0">
                <a:solidFill>
                  <a:srgbClr val="ECF0F1"/>
                </a:solidFill>
                <a:latin typeface="Calibri"/>
              </a:rPr>
              <a:t>    ▸ Isotonic calibration &amp; Clinical Trust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sz="1100" b="0" i="0" dirty="0">
              <a:solidFill>
                <a:srgbClr val="ECF0F1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 dirty="0">
                <a:solidFill>
                  <a:srgbClr val="FFFFFF"/>
                </a:solidFill>
                <a:latin typeface="Calibri"/>
              </a:rPr>
              <a:t>  Results &amp; Discussion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 dirty="0">
                <a:solidFill>
                  <a:srgbClr val="27AE60"/>
                </a:solidFill>
                <a:latin typeface="Calibri"/>
              </a:rPr>
              <a:t>    ▸ T5: AUC 0.893, Brier ↓39.9% vs control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 dirty="0">
                <a:solidFill>
                  <a:srgbClr val="ECF0F1"/>
                </a:solidFill>
                <a:latin typeface="Calibri"/>
              </a:rPr>
              <a:t>    ▸ SHAP analysis, Coach Action Protocol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1078992"/>
            <a:ext cx="7772400" cy="54864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Introduction: The ACL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0700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878A"/>
                </a:solidFill>
                <a:latin typeface="Calibri"/>
              </a:rPr>
              <a:t>Scale, mechanism, and the scalability bottleneck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35264"/>
            <a:ext cx="1920240" cy="1325880"/>
          </a:xfrm>
          <a:prstGeom prst="rect">
            <a:avLst/>
          </a:prstGeom>
          <a:solidFill>
            <a:srgbClr val="2C3E50"/>
          </a:solidFill>
          <a:ln w="15240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828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39C12"/>
                </a:solidFill>
                <a:latin typeface="Calibri"/>
              </a:rPr>
              <a:t>200,000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CF0F1"/>
                </a:solidFill>
                <a:latin typeface="Calibri"/>
              </a:rPr>
              <a:t>ACL reconstructions
per year in the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4600" y="1535264"/>
            <a:ext cx="1920240" cy="1325880"/>
          </a:xfrm>
          <a:prstGeom prst="rect">
            <a:avLst/>
          </a:prstGeom>
          <a:solidFill>
            <a:srgbClr val="2C3E50"/>
          </a:solidFill>
          <a:ln w="15240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60320" y="1554480"/>
            <a:ext cx="1828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39C12"/>
                </a:solidFill>
                <a:latin typeface="Calibri"/>
              </a:rPr>
              <a:t>6–12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CF0F1"/>
                </a:solidFill>
                <a:latin typeface="Calibri"/>
              </a:rPr>
              <a:t>Months of rehabilitation
per injury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535264"/>
            <a:ext cx="1920240" cy="1325880"/>
          </a:xfrm>
          <a:prstGeom prst="rect">
            <a:avLst/>
          </a:prstGeom>
          <a:solidFill>
            <a:srgbClr val="2C3E50"/>
          </a:solidFill>
          <a:ln w="15240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554480"/>
            <a:ext cx="1828800" cy="882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 dirty="0">
                <a:solidFill>
                  <a:srgbClr val="F39C12"/>
                </a:solidFill>
                <a:latin typeface="Calibri"/>
              </a:rPr>
              <a:t>10.6%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 dirty="0">
                <a:solidFill>
                  <a:srgbClr val="ECF0F1"/>
                </a:solidFill>
                <a:latin typeface="Calibri"/>
              </a:rPr>
              <a:t>Injury prevalence in </a:t>
            </a:r>
            <a:r>
              <a:rPr lang="en-US" sz="1100" b="0" i="0" dirty="0">
                <a:solidFill>
                  <a:srgbClr val="ECF0F1"/>
                </a:solidFill>
                <a:latin typeface="Calibri"/>
              </a:rPr>
              <a:t>the</a:t>
            </a:r>
            <a:r>
              <a:rPr sz="1100" b="0" i="0" dirty="0">
                <a:solidFill>
                  <a:srgbClr val="ECF0F1"/>
                </a:solidFill>
                <a:latin typeface="Calibri"/>
              </a:rPr>
              <a:t>
6,430-athlete dataset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0" y="1535264"/>
            <a:ext cx="1920240" cy="1325880"/>
          </a:xfrm>
          <a:prstGeom prst="rect">
            <a:avLst/>
          </a:prstGeom>
          <a:solidFill>
            <a:srgbClr val="2C3E50"/>
          </a:solidFill>
          <a:ln w="15240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554480"/>
            <a:ext cx="1828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39C12"/>
                </a:solidFill>
                <a:latin typeface="Calibri"/>
              </a:rPr>
              <a:t>$150K+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CF0F1"/>
                </a:solidFill>
                <a:latin typeface="Calibri"/>
              </a:rPr>
              <a:t>Cost of 3D MoCap lab
equipment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2608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 dirty="0">
                <a:solidFill>
                  <a:srgbClr val="00878A"/>
                </a:solidFill>
                <a:latin typeface="Calibri"/>
              </a:rPr>
              <a:t>What is the Cutting Signature?</a:t>
            </a:r>
          </a:p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sz="1200" b="0" i="0" dirty="0">
                <a:solidFill>
                  <a:srgbClr val="ECF0F1"/>
                </a:solidFill>
                <a:latin typeface="Calibri"/>
              </a:rPr>
              <a:t>Non-contact ACL injuries follow a predictable motor pattern during cutting maneuvers: single-leg deceleration, lateral trunk displacement, and asymmetric ground reaction forces at near-full knee extension (dynamic valgus). Jauhiainen named this multi-variate fingerprint the Cutting Signature.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262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E67E22"/>
                </a:solidFill>
                <a:latin typeface="Calibri"/>
              </a:rPr>
              <a:t>The Scalability Problem</a:t>
            </a:r>
          </a:p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sz="1200" b="0" i="0">
                <a:solidFill>
                  <a:srgbClr val="ECF0F1"/>
                </a:solidFill>
                <a:latin typeface="Calibri"/>
              </a:rPr>
              <a:t>Gold standard: 3D Motion Capture (3D MoCap) requires 60–90 min/athlete, &gt;$150K equipment, specialist technicians. Not feasible for rosters of 20–80 athletes across multiple sport seasons.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200" b="0" i="0">
                <a:solidFill>
                  <a:srgbClr val="27AE60"/>
                </a:solidFill>
                <a:latin typeface="Calibri"/>
              </a:rPr>
              <a:t>Our premise: replace MoCap with routine training-load monitoring data (GPS load, fatigue scores, symmetry indices) already collected in Division I/II programs.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2993664"/>
            <a:ext cx="2743200" cy="1691640"/>
          </a:xfrm>
          <a:prstGeom prst="rect">
            <a:avLst/>
          </a:prstGeom>
          <a:solidFill>
            <a:srgbClr val="1A2A3A"/>
          </a:solidFill>
          <a:ln w="1524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89320" y="3026132"/>
            <a:ext cx="2651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7AE60"/>
                </a:solidFill>
                <a:latin typeface="Calibri"/>
              </a:rPr>
              <a:t>Research Questions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 i="0">
                <a:solidFill>
                  <a:srgbClr val="ECF0F1"/>
                </a:solidFill>
                <a:latin typeface="Calibri"/>
              </a:rPr>
              <a:t>RQ1  Can proxy features approximate
         lab-grade Cutting Signature?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000" b="0" i="0">
                <a:solidFill>
                  <a:srgbClr val="ECF0F1"/>
                </a:solidFill>
                <a:latin typeface="Calibri"/>
              </a:rPr>
              <a:t>RQ2  Does Stacking Ensemble beat
         individual learners (AUC &gt; 0.75)?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000" b="0" i="0">
                <a:solidFill>
                  <a:srgbClr val="ECF0F1"/>
                </a:solidFill>
                <a:latin typeface="Calibri"/>
              </a:rPr>
              <a:t>RQ3  Can probabilities translate into
         a coach-actionable protocol?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1078992"/>
            <a:ext cx="7772400" cy="54864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54000"/>
            <a:ext cx="7772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00878A"/>
                </a:solidFill>
                <a:latin typeface="Calibri"/>
              </a:rPr>
              <a:t>What prior work achieved</a:t>
            </a:r>
            <a:r>
              <a:rPr lang="en-US" sz="1600" b="0" i="1" dirty="0">
                <a:solidFill>
                  <a:srgbClr val="00878A"/>
                </a:solidFill>
                <a:latin typeface="Calibri"/>
              </a:rPr>
              <a:t> </a:t>
            </a:r>
            <a:r>
              <a:rPr sz="1600" b="0" i="1" dirty="0">
                <a:solidFill>
                  <a:srgbClr val="00878A"/>
                </a:solidFill>
                <a:latin typeface="Calibri"/>
              </a:rPr>
              <a:t>and where the gaps remain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10084"/>
            <a:ext cx="8412480" cy="1463040"/>
          </a:xfrm>
          <a:prstGeom prst="rect">
            <a:avLst/>
          </a:prstGeom>
          <a:solidFill>
            <a:srgbClr val="2C3E50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542552"/>
            <a:ext cx="8229600" cy="1174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 dirty="0">
                <a:solidFill>
                  <a:srgbClr val="E67E22"/>
                </a:solidFill>
                <a:latin typeface="Calibri"/>
              </a:rPr>
              <a:t>Jauhiainen</a:t>
            </a:r>
            <a:r>
              <a:rPr lang="en-US" sz="1300" b="1" i="0" dirty="0">
                <a:solidFill>
                  <a:srgbClr val="E67E22"/>
                </a:solidFill>
                <a:latin typeface="Calibri"/>
              </a:rPr>
              <a:t> </a:t>
            </a:r>
            <a:r>
              <a:rPr sz="1300" b="1" i="0" dirty="0">
                <a:solidFill>
                  <a:srgbClr val="E67E22"/>
                </a:solidFill>
                <a:latin typeface="Calibri"/>
              </a:rPr>
              <a:t>(2022)  ·  Am J Sports Med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100" b="0" i="0" dirty="0">
                <a:solidFill>
                  <a:srgbClr val="ECF0F1"/>
                </a:solidFill>
                <a:latin typeface="Calibri"/>
              </a:rPr>
              <a:t>880 female elite handball/soccer athletes  ·  60 ACL injuries (7.6%)
283 biomechanical variables from 3D MoCap + force plates
Linear SVM (best) → Mean AUC-ROC = 0.63   ←  our baseline target
Key limit: requires full laboratory setup, not scalable to most programs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057276"/>
            <a:ext cx="8412480" cy="1463040"/>
          </a:xfrm>
          <a:prstGeom prst="rect">
            <a:avLst/>
          </a:prstGeom>
          <a:solidFill>
            <a:srgbClr val="2C3E50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3089743"/>
            <a:ext cx="8229600" cy="1174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 dirty="0">
                <a:solidFill>
                  <a:srgbClr val="9B59B6"/>
                </a:solidFill>
                <a:latin typeface="Calibri"/>
              </a:rPr>
              <a:t>Taborri (2021)  ·  Sensors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100" b="0" i="0" dirty="0">
                <a:solidFill>
                  <a:srgbClr val="ECF0F1"/>
                </a:solidFill>
                <a:latin typeface="Calibri"/>
              </a:rPr>
              <a:t>39 female college basketball players  ·  Wearable IMU sensors
Top feature: center-of-pressure ellipse area (MDA = 49.2%)
Linear SVM → Accuracy = 0.96, F1 = 0.95  (small N caveat)
Key limit: N=39 prevents robust AUC estimation; male populations excluded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604468"/>
            <a:ext cx="8412480" cy="1463040"/>
          </a:xfrm>
          <a:prstGeom prst="rect">
            <a:avLst/>
          </a:prstGeom>
          <a:solidFill>
            <a:srgbClr val="2C3E50"/>
          </a:solidFill>
          <a:ln w="25400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8229600" cy="1174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 dirty="0">
                <a:solidFill>
                  <a:srgbClr val="00878A"/>
                </a:solidFill>
                <a:latin typeface="Calibri"/>
              </a:rPr>
              <a:t>Guo (2025)  ·  PeerJ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100" b="0" i="0" dirty="0">
                <a:solidFill>
                  <a:srgbClr val="ECF0F1"/>
                </a:solidFill>
                <a:latin typeface="Calibri"/>
              </a:rPr>
              <a:t>104 male collegiate basketball  ·  11 ACL injuries (10.6%</a:t>
            </a:r>
            <a:r>
              <a:rPr lang="en-US" sz="1100" b="0" i="0" dirty="0">
                <a:solidFill>
                  <a:srgbClr val="ECF0F1"/>
                </a:solidFill>
                <a:latin typeface="Calibri"/>
              </a:rPr>
              <a:t> - </a:t>
            </a:r>
            <a:r>
              <a:rPr sz="1100" b="0" i="0" dirty="0">
                <a:solidFill>
                  <a:srgbClr val="ECF0F1"/>
                </a:solidFill>
                <a:latin typeface="Calibri"/>
              </a:rPr>
              <a:t>same as </a:t>
            </a:r>
            <a:r>
              <a:rPr lang="en-US" sz="1100" b="0" i="0" dirty="0">
                <a:solidFill>
                  <a:srgbClr val="ECF0F1"/>
                </a:solidFill>
                <a:latin typeface="Calibri"/>
              </a:rPr>
              <a:t>mine</a:t>
            </a:r>
            <a:r>
              <a:rPr sz="1100" b="0" i="0" dirty="0">
                <a:solidFill>
                  <a:srgbClr val="ECF0F1"/>
                </a:solidFill>
                <a:latin typeface="Calibri"/>
              </a:rPr>
              <a:t>)
Random Forest on 3D MoCap joint moments + Y-Balance Test → AUC = 0.80
SMOTE + Gaussian noise for imbalance  ·  Training hours = top-4 feature
Key limit: male-only; no Brier Score or probability calibration reported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6199632"/>
            <a:ext cx="8412480" cy="502920"/>
          </a:xfrm>
          <a:prstGeom prst="rect">
            <a:avLst/>
          </a:prstGeom>
          <a:solidFill>
            <a:srgbClr val="1B3A1B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217920"/>
            <a:ext cx="83210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 dirty="0">
                <a:solidFill>
                  <a:srgbClr val="27AE60"/>
                </a:solidFill>
                <a:latin typeface="Calibri"/>
              </a:rPr>
              <a:t>Research Gaps </a:t>
            </a:r>
            <a:r>
              <a:rPr lang="en-US" sz="1100" b="1" i="0" dirty="0">
                <a:solidFill>
                  <a:srgbClr val="27AE60"/>
                </a:solidFill>
                <a:latin typeface="Calibri"/>
              </a:rPr>
              <a:t>My</a:t>
            </a:r>
            <a:r>
              <a:rPr sz="1100" b="1" i="0" dirty="0">
                <a:solidFill>
                  <a:srgbClr val="27AE60"/>
                </a:solidFill>
                <a:latin typeface="Calibri"/>
              </a:rPr>
              <a:t> Work Addresses:  (1) No multi-cohort cross-gender pipeline  ·  (2) No calibrated probability output  ·  (3) No scalable (N&gt;6,000) training-load-only approach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1304276"/>
            <a:ext cx="7772400" cy="54864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77724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  <a:latin typeface="Calibri"/>
              </a:rPr>
              <a:t>Methodology: Data Fusion &amp;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27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00878A"/>
                </a:solidFill>
                <a:latin typeface="Calibri"/>
              </a:rPr>
              <a:t>Three heterogeneous datasets → one canonical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22118"/>
            <a:ext cx="1920240" cy="1188720"/>
          </a:xfrm>
          <a:prstGeom prst="rect">
            <a:avLst/>
          </a:prstGeom>
          <a:solidFill>
            <a:srgbClr val="2C3E50"/>
          </a:solidFill>
          <a:ln w="15240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7678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00878A"/>
                </a:solidFill>
                <a:latin typeface="Calibri"/>
              </a:rPr>
              <a:t>Collegiate
Athletes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0" dirty="0" err="1">
                <a:solidFill>
                  <a:srgbClr val="BDC3C7"/>
                </a:solidFill>
                <a:latin typeface="Calibri"/>
              </a:rPr>
              <a:t>injury_indicator</a:t>
            </a:r>
            <a:r>
              <a:rPr sz="1000" b="0" i="0" dirty="0">
                <a:solidFill>
                  <a:srgbClr val="BDC3C7"/>
                </a:solidFill>
                <a:latin typeface="Calibri"/>
              </a:rPr>
              <a:t>
→ binary label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79" y="1722119"/>
            <a:ext cx="1920240" cy="1188720"/>
          </a:xfrm>
          <a:prstGeom prst="rect">
            <a:avLst/>
          </a:prstGeom>
          <a:solidFill>
            <a:srgbClr val="2C3E50"/>
          </a:solidFill>
          <a:ln w="15240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14599" y="1754588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00878A"/>
                </a:solidFill>
                <a:latin typeface="Calibri"/>
              </a:rPr>
              <a:t>Multimodal
Sensor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0" dirty="0" err="1">
                <a:solidFill>
                  <a:srgbClr val="BDC3C7"/>
                </a:solidFill>
                <a:latin typeface="Calibri"/>
              </a:rPr>
              <a:t>injury_risk</a:t>
            </a:r>
            <a:r>
              <a:rPr sz="1000" b="0" i="0" dirty="0">
                <a:solidFill>
                  <a:srgbClr val="BDC3C7"/>
                </a:solidFill>
                <a:latin typeface="Calibri"/>
              </a:rPr>
              <a:t>
→ binary label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722119"/>
            <a:ext cx="1920240" cy="1188720"/>
          </a:xfrm>
          <a:prstGeom prst="rect">
            <a:avLst/>
          </a:prstGeom>
          <a:solidFill>
            <a:srgbClr val="2C3E50"/>
          </a:solidFill>
          <a:ln w="15240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767839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00878A"/>
                </a:solidFill>
                <a:latin typeface="Calibri"/>
              </a:rPr>
              <a:t>University
Football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0" dirty="0" err="1">
                <a:solidFill>
                  <a:srgbClr val="BDC3C7"/>
                </a:solidFill>
                <a:latin typeface="Calibri"/>
              </a:rPr>
              <a:t>injury_next_season</a:t>
            </a:r>
            <a:r>
              <a:rPr sz="1000" b="0" i="0" dirty="0">
                <a:solidFill>
                  <a:srgbClr val="BDC3C7"/>
                </a:solidFill>
                <a:latin typeface="Calibri"/>
              </a:rPr>
              <a:t>
→ binary label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883132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27AE60"/>
                </a:solidFill>
                <a:latin typeface="Calibri"/>
              </a:rPr>
              <a:t>→  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1722121"/>
            <a:ext cx="1737360" cy="1188720"/>
          </a:xfrm>
          <a:prstGeom prst="rect">
            <a:avLst/>
          </a:prstGeom>
          <a:solidFill>
            <a:srgbClr val="0A2A0A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86600" y="1767838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27AE60"/>
                </a:solidFill>
                <a:latin typeface="Calibri"/>
              </a:rPr>
              <a:t>Master Dataset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ECF0F1"/>
                </a:solidFill>
                <a:latin typeface="Calibri"/>
              </a:rPr>
              <a:t>6,430 athletes
15 features
10.6% prevalence
1:8.4 ratio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042035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39C12"/>
                </a:solidFill>
                <a:latin typeface="Calibri"/>
              </a:rPr>
              <a:t>The Cutting Signature: 3 Engineered Proxy Features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533031"/>
            <a:ext cx="2743200" cy="2011680"/>
          </a:xfrm>
          <a:prstGeom prst="rect">
            <a:avLst/>
          </a:prstGeom>
          <a:solidFill>
            <a:srgbClr val="2C3E50"/>
          </a:solidFill>
          <a:ln w="1651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8912" y="3565497"/>
            <a:ext cx="2633472" cy="105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 dirty="0">
                <a:solidFill>
                  <a:srgbClr val="27AE60"/>
                </a:solidFill>
                <a:latin typeface="Calibri"/>
              </a:rPr>
              <a:t>Fatigue Accumulation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 i="1" dirty="0">
                <a:solidFill>
                  <a:srgbClr val="F39C12"/>
                </a:solidFill>
                <a:latin typeface="Calibri"/>
              </a:rPr>
              <a:t>FA = 0.50 × fatigue + 0.30 × workload − 0.20 × recovery ∈ [0,1]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000" b="0" i="0" dirty="0">
                <a:solidFill>
                  <a:srgbClr val="ECF0F1"/>
                </a:solidFill>
                <a:latin typeface="Calibri"/>
              </a:rPr>
              <a:t>Approximates 7-day cumulative neuromuscular load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3533029"/>
            <a:ext cx="2743200" cy="2011680"/>
          </a:xfrm>
          <a:prstGeom prst="rect">
            <a:avLst/>
          </a:prstGeom>
          <a:solidFill>
            <a:srgbClr val="2C3E50"/>
          </a:solidFill>
          <a:ln w="1651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64992" y="3565497"/>
            <a:ext cx="2633472" cy="90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 dirty="0">
                <a:solidFill>
                  <a:srgbClr val="27AE60"/>
                </a:solidFill>
                <a:latin typeface="Calibri"/>
              </a:rPr>
              <a:t>Lateral Force Proxy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 i="1" dirty="0">
                <a:solidFill>
                  <a:srgbClr val="F39C12"/>
                </a:solidFill>
                <a:latin typeface="Calibri"/>
              </a:rPr>
              <a:t>LFP = speed × (1 − symmetry) ∈ [0,1]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000" b="0" i="0" dirty="0">
                <a:solidFill>
                  <a:srgbClr val="ECF0F1"/>
                </a:solidFill>
                <a:latin typeface="Calibri"/>
              </a:rPr>
              <a:t>Proxy for center-of-pressure excursion (inspired by Taborri COP feature)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533029"/>
            <a:ext cx="2743200" cy="2011680"/>
          </a:xfrm>
          <a:prstGeom prst="rect">
            <a:avLst/>
          </a:prstGeom>
          <a:solidFill>
            <a:srgbClr val="2C3E50"/>
          </a:solidFill>
          <a:ln w="1651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91072" y="3565497"/>
            <a:ext cx="2633472" cy="90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 dirty="0">
                <a:solidFill>
                  <a:srgbClr val="27AE60"/>
                </a:solidFill>
                <a:latin typeface="Calibri"/>
              </a:rPr>
              <a:t>Symmetry Index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 i="1" dirty="0">
                <a:solidFill>
                  <a:srgbClr val="F39C12"/>
                </a:solidFill>
                <a:latin typeface="Calibri"/>
              </a:rPr>
              <a:t>SI = |impact − symmetry| ∈ [0,1]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000" b="0" i="0" dirty="0">
                <a:solidFill>
                  <a:srgbClr val="ECF0F1"/>
                </a:solidFill>
                <a:latin typeface="Calibri"/>
              </a:rPr>
              <a:t>Limb-load asymmetry</a:t>
            </a:r>
            <a:r>
              <a:rPr lang="en-US" sz="1000" b="0" i="0" dirty="0">
                <a:solidFill>
                  <a:srgbClr val="ECF0F1"/>
                </a:solidFill>
                <a:latin typeface="Calibri"/>
              </a:rPr>
              <a:t>, </a:t>
            </a:r>
            <a:r>
              <a:rPr sz="1000" b="0" i="0" dirty="0">
                <a:solidFill>
                  <a:srgbClr val="ECF0F1"/>
                </a:solidFill>
                <a:latin typeface="Calibri"/>
              </a:rPr>
              <a:t>confirmed ACL precursor by Guo</a:t>
            </a:r>
            <a:r>
              <a:rPr lang="en-US" sz="1000" b="0" i="0" dirty="0">
                <a:solidFill>
                  <a:srgbClr val="ECF0F1"/>
                </a:solidFill>
                <a:latin typeface="Calibri"/>
              </a:rPr>
              <a:t>.</a:t>
            </a:r>
            <a:endParaRPr sz="1000" b="0" i="0" dirty="0">
              <a:solidFill>
                <a:srgbClr val="ECF0F1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5760" y="5749456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 dirty="0">
                <a:solidFill>
                  <a:srgbClr val="BDC3C7"/>
                </a:solidFill>
                <a:latin typeface="Calibri"/>
              </a:rPr>
              <a:t>9 base domain features (workload, fatigue, recovery, speed, symmetry, impact, match load, prev. injury, training intensity) mapped via case-insensitive column lookup across all 3 source schemas, scaled to [0,1]. One-hot encoded source indicator added as confound control.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1039236"/>
            <a:ext cx="7772400" cy="54864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Methodology: 6-Way Technique Tournament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1424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00878A"/>
                </a:solidFill>
                <a:latin typeface="Calibri"/>
              </a:rPr>
              <a:t>Each step replaces exactly one modular block — isolating causal contribution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15173"/>
            <a:ext cx="411480" cy="32004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1646712"/>
            <a:ext cx="356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Calibri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771276" y="1615172"/>
            <a:ext cx="1816476" cy="32004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4968" y="1646713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Calibri"/>
              </a:rPr>
              <a:t>Model Name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2632544" y="1615174"/>
            <a:ext cx="2194560" cy="32004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11766" y="1646714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Block Replaced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7464" y="1615172"/>
            <a:ext cx="3900776" cy="32004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21730" y="1646712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Key Mechanism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949393"/>
            <a:ext cx="8458200" cy="713232"/>
          </a:xfrm>
          <a:prstGeom prst="rect">
            <a:avLst/>
          </a:prstGeom>
          <a:solidFill>
            <a:srgbClr val="2C3E50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" y="2126310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 dirty="0">
                <a:solidFill>
                  <a:srgbClr val="E67E22"/>
                </a:solidFill>
                <a:latin typeface="Calibri"/>
              </a:rPr>
              <a:t>T0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153743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 dirty="0">
                <a:solidFill>
                  <a:srgbClr val="FFFFFF"/>
                </a:solidFill>
                <a:latin typeface="Calibri"/>
              </a:rPr>
              <a:t>SMOTE Ensemble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38560" y="2153743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 dirty="0">
                <a:solidFill>
                  <a:srgbClr val="BDC3C7"/>
                </a:solidFill>
                <a:latin typeface="Calibri"/>
              </a:rPr>
              <a:t>Control (baseline replication)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62992" y="2138635"/>
            <a:ext cx="3703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 dirty="0">
                <a:solidFill>
                  <a:srgbClr val="ECF0F1"/>
                </a:solidFill>
                <a:latin typeface="Calibri"/>
              </a:rPr>
              <a:t>SMOTE oversampling inside fold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699201"/>
            <a:ext cx="8458200" cy="713232"/>
          </a:xfrm>
          <a:prstGeom prst="rect">
            <a:avLst/>
          </a:prstGeom>
          <a:solidFill>
            <a:srgbClr val="2C3E50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7472" y="2862865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 dirty="0">
                <a:solidFill>
                  <a:srgbClr val="E67E22"/>
                </a:solidFill>
                <a:latin typeface="Calibri"/>
              </a:rPr>
              <a:t>T1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877047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 dirty="0">
                <a:solidFill>
                  <a:srgbClr val="FFFFFF"/>
                </a:solidFill>
                <a:latin typeface="Calibri"/>
              </a:rPr>
              <a:t>ADASYN Ensemble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78317" y="2877046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 dirty="0">
                <a:solidFill>
                  <a:srgbClr val="BDC3C7"/>
                </a:solidFill>
                <a:latin typeface="Calibri"/>
              </a:rPr>
              <a:t>SMOTE → ADASYN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6244" y="2861937"/>
            <a:ext cx="3703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 dirty="0">
                <a:solidFill>
                  <a:srgbClr val="ECF0F1"/>
                </a:solidFill>
                <a:latin typeface="Calibri"/>
              </a:rPr>
              <a:t>Adaptive synthesis near decision boundary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435756"/>
            <a:ext cx="8458200" cy="713232"/>
          </a:xfrm>
          <a:prstGeom prst="rect">
            <a:avLst/>
          </a:prstGeom>
          <a:solidFill>
            <a:srgbClr val="2C3E50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7472" y="3639179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 dirty="0">
                <a:solidFill>
                  <a:srgbClr val="E67E22"/>
                </a:solidFill>
                <a:latin typeface="Calibri"/>
              </a:rPr>
              <a:t>T2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653359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 dirty="0">
                <a:solidFill>
                  <a:srgbClr val="FFFFFF"/>
                </a:solidFill>
                <a:latin typeface="Calibri"/>
              </a:rPr>
              <a:t>BorderlineSMOTE Ensemble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51813" y="3653359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 dirty="0">
                <a:solidFill>
                  <a:srgbClr val="BDC3C7"/>
                </a:solidFill>
                <a:latin typeface="Calibri"/>
              </a:rPr>
              <a:t>ADASYN → BorderlineSMOTE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62992" y="3624997"/>
            <a:ext cx="3703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ECF0F1"/>
                </a:solidFill>
                <a:latin typeface="Calibri"/>
              </a:rPr>
              <a:t>Boundary-only (DANGER-zone) synthesis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172311"/>
            <a:ext cx="8458200" cy="713232"/>
          </a:xfrm>
          <a:prstGeom prst="rect">
            <a:avLst/>
          </a:prstGeom>
          <a:solidFill>
            <a:srgbClr val="1C2A38"/>
          </a:solidFill>
          <a:ln w="12700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7472" y="4349229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 dirty="0">
                <a:solidFill>
                  <a:srgbClr val="00878A"/>
                </a:solidFill>
                <a:latin typeface="Calibri"/>
              </a:rPr>
              <a:t>T3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376661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 dirty="0">
                <a:solidFill>
                  <a:srgbClr val="FFFFFF"/>
                </a:solidFill>
                <a:latin typeface="Calibri"/>
              </a:rPr>
              <a:t>Cost-Sensitive Ensemble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51812" y="4363409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 dirty="0">
                <a:solidFill>
                  <a:srgbClr val="BDC3C7"/>
                </a:solidFill>
                <a:latin typeface="Calibri"/>
              </a:rPr>
              <a:t>Resampler removed; weights added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89496" y="4335048"/>
            <a:ext cx="3703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 dirty="0">
                <a:solidFill>
                  <a:srgbClr val="ECF0F1"/>
                </a:solidFill>
                <a:latin typeface="Calibri"/>
              </a:rPr>
              <a:t>α = N⁻/N⁺ ≈ 8.43 as scale_pos_weight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908868"/>
            <a:ext cx="8458200" cy="713232"/>
          </a:xfrm>
          <a:prstGeom prst="rect">
            <a:avLst/>
          </a:prstGeom>
          <a:solidFill>
            <a:srgbClr val="1C2A38"/>
          </a:solidFill>
          <a:ln w="12700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7472" y="5085786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 dirty="0">
                <a:solidFill>
                  <a:srgbClr val="00878A"/>
                </a:solidFill>
                <a:latin typeface="Calibri"/>
              </a:rPr>
              <a:t>T4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086712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 dirty="0">
                <a:solidFill>
                  <a:srgbClr val="FFFFFF"/>
                </a:solidFill>
                <a:latin typeface="Calibri"/>
              </a:rPr>
              <a:t>Cost-Sensitive + Platt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78317" y="5086712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 dirty="0">
                <a:solidFill>
                  <a:srgbClr val="BDC3C7"/>
                </a:solidFill>
                <a:latin typeface="Calibri"/>
              </a:rPr>
              <a:t>Add Platt sigmoid calibration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76244" y="5071605"/>
            <a:ext cx="3703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 dirty="0">
                <a:solidFill>
                  <a:srgbClr val="ECF0F1"/>
                </a:solidFill>
                <a:latin typeface="Calibri"/>
              </a:rPr>
              <a:t>Fits logistic curve A·s + B to held-out folds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5645424"/>
            <a:ext cx="8458200" cy="713232"/>
          </a:xfrm>
          <a:prstGeom prst="rect">
            <a:avLst/>
          </a:prstGeom>
          <a:solidFill>
            <a:srgbClr val="1A2A1A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5782584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 dirty="0">
                <a:solidFill>
                  <a:srgbClr val="27AE60"/>
                </a:solidFill>
                <a:latin typeface="Calibri"/>
              </a:rPr>
              <a:t>T5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810018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 dirty="0">
                <a:solidFill>
                  <a:srgbClr val="FFFFFF"/>
                </a:solidFill>
                <a:latin typeface="Calibri"/>
              </a:rPr>
              <a:t>Cost-Sensitive + Isotonic 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91570" y="5810016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 dirty="0">
                <a:solidFill>
                  <a:srgbClr val="BDC3C7"/>
                </a:solidFill>
                <a:latin typeface="Calibri"/>
              </a:rPr>
              <a:t>Sigmoid → Isotonic calibration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16000" y="5821414"/>
            <a:ext cx="3703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 dirty="0">
                <a:solidFill>
                  <a:srgbClr val="ECF0F1"/>
                </a:solidFill>
                <a:latin typeface="Calibri"/>
              </a:rPr>
              <a:t>PAV step function — no distribution assumption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1078992"/>
            <a:ext cx="7772400" cy="54864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Novelty: What Makes This Work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54000"/>
            <a:ext cx="7772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00878A"/>
                </a:solidFill>
                <a:latin typeface="Calibri"/>
              </a:rPr>
              <a:t>Three original contributions to ACL injury </a:t>
            </a:r>
            <a:r>
              <a:rPr lang="en-US" sz="1600" b="0" i="1" dirty="0">
                <a:solidFill>
                  <a:srgbClr val="00878A"/>
                </a:solidFill>
                <a:latin typeface="Calibri"/>
              </a:rPr>
              <a:t>risk </a:t>
            </a:r>
            <a:r>
              <a:rPr sz="1600" b="0" i="1" dirty="0">
                <a:solidFill>
                  <a:srgbClr val="00878A"/>
                </a:solidFill>
                <a:latin typeface="Calibri"/>
              </a:rPr>
              <a:t>prediction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49840"/>
            <a:ext cx="8412480" cy="1572768"/>
          </a:xfrm>
          <a:prstGeom prst="rect">
            <a:avLst/>
          </a:prstGeom>
          <a:solidFill>
            <a:srgbClr val="2C3E50"/>
          </a:solidFill>
          <a:ln w="25400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563092"/>
            <a:ext cx="640080" cy="157276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2079264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72820"/>
            <a:ext cx="7589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dirty="0">
                <a:solidFill>
                  <a:srgbClr val="00878A"/>
                </a:solidFill>
                <a:latin typeface="Calibri"/>
              </a:rPr>
              <a:t>Multi-Dataset, Cross-Gender Pipeline at Scale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100" b="0" i="0" dirty="0">
                <a:solidFill>
                  <a:srgbClr val="ECF0F1"/>
                </a:solidFill>
                <a:latin typeface="Calibri"/>
              </a:rPr>
              <a:t>First pipeline to fuse 3 heterogeneous Kaggle datasets (collegiate, multimodal-sensor, university football) across both male and female athletes into a unified 6,430-row, 15-feature canonical schema. All prior work used a single institution or single sport.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54732"/>
            <a:ext cx="8412480" cy="1572768"/>
          </a:xfrm>
          <a:prstGeom prst="rect">
            <a:avLst/>
          </a:prstGeom>
          <a:solidFill>
            <a:srgbClr val="2C3E50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3267984"/>
            <a:ext cx="640080" cy="157276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3770904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390965"/>
            <a:ext cx="7589520" cy="90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dirty="0">
                <a:solidFill>
                  <a:srgbClr val="F39C12"/>
                </a:solidFill>
                <a:latin typeface="Calibri"/>
              </a:rPr>
              <a:t>Cutting Signature Proxy Without Lab Equipment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100" b="0" i="0" dirty="0">
                <a:solidFill>
                  <a:srgbClr val="ECF0F1"/>
                </a:solidFill>
                <a:latin typeface="Calibri"/>
              </a:rPr>
              <a:t>Operationalizes Jauhiainen's Cutting Signature using only training-load variables routinely collected in collegiate programs</a:t>
            </a:r>
            <a:r>
              <a:rPr lang="en-US" sz="1100" b="0" i="0" dirty="0">
                <a:solidFill>
                  <a:srgbClr val="ECF0F1"/>
                </a:solidFill>
                <a:latin typeface="Calibri"/>
              </a:rPr>
              <a:t>, </a:t>
            </a:r>
            <a:r>
              <a:rPr sz="1100" b="0" i="0" dirty="0">
                <a:solidFill>
                  <a:srgbClr val="ECF0F1"/>
                </a:solidFill>
                <a:latin typeface="Calibri"/>
              </a:rPr>
              <a:t>no force plates, no MoCap. SHAP confirms the 3 engineered features (FA </a:t>
            </a:r>
            <a:r>
              <a:rPr sz="1100" b="0" i="0" dirty="0" err="1">
                <a:solidFill>
                  <a:srgbClr val="ECF0F1"/>
                </a:solidFill>
                <a:latin typeface="Calibri"/>
              </a:rPr>
              <a:t>φ</a:t>
            </a:r>
            <a:r>
              <a:rPr sz="1100" b="0" i="0" dirty="0">
                <a:solidFill>
                  <a:srgbClr val="ECF0F1"/>
                </a:solidFill>
                <a:latin typeface="Calibri"/>
              </a:rPr>
              <a:t>=0.142, LFP </a:t>
            </a:r>
            <a:r>
              <a:rPr sz="1100" b="0" i="0" dirty="0" err="1">
                <a:solidFill>
                  <a:srgbClr val="ECF0F1"/>
                </a:solidFill>
                <a:latin typeface="Calibri"/>
              </a:rPr>
              <a:t>φ</a:t>
            </a:r>
            <a:r>
              <a:rPr sz="1100" b="0" i="0" dirty="0">
                <a:solidFill>
                  <a:srgbClr val="ECF0F1"/>
                </a:solidFill>
                <a:latin typeface="Calibri"/>
              </a:rPr>
              <a:t>=0.118, SI </a:t>
            </a:r>
            <a:r>
              <a:rPr sz="1100" b="0" i="0" dirty="0" err="1">
                <a:solidFill>
                  <a:srgbClr val="ECF0F1"/>
                </a:solidFill>
                <a:latin typeface="Calibri"/>
              </a:rPr>
              <a:t>φ</a:t>
            </a:r>
            <a:r>
              <a:rPr sz="1100" b="0" i="0" dirty="0">
                <a:solidFill>
                  <a:srgbClr val="ECF0F1"/>
                </a:solidFill>
                <a:latin typeface="Calibri"/>
              </a:rPr>
              <a:t>=0.097) occupy the top-3 importance positions.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959624"/>
            <a:ext cx="8412480" cy="1572768"/>
          </a:xfrm>
          <a:prstGeom prst="rect">
            <a:avLst/>
          </a:prstGeom>
          <a:solidFill>
            <a:srgbClr val="2C3E50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4972876"/>
            <a:ext cx="640080" cy="15727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5475797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069352"/>
            <a:ext cx="7589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dirty="0">
                <a:solidFill>
                  <a:srgbClr val="27AE60"/>
                </a:solidFill>
                <a:latin typeface="Calibri"/>
              </a:rPr>
              <a:t>Clinical Trust via Isotonic Probability Calibration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100" b="0" i="0" dirty="0">
                <a:solidFill>
                  <a:srgbClr val="ECF0F1"/>
                </a:solidFill>
                <a:latin typeface="Calibri"/>
              </a:rPr>
              <a:t>First systematic comparison of imbalance treatment × calibration pairs in ACL prediction. Isotonic Regression (PAV algorithm) maps raw ensemble scores to empirically verified injury rates: a 65% output corresponds to 65% historical ACL injuries in that stratum. This Clinical Trust property is absent from Jauhiainen, Taborri, and Guo.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999480"/>
            <a:ext cx="7772400" cy="54864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Results: 6-Way Tournament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4798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00878A"/>
                </a:solidFill>
                <a:latin typeface="Calibri"/>
              </a:rPr>
              <a:t>20% stratified hold-out  ·  N = 1,286 athletes  ·  Youden-optimal threshold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89888"/>
            <a:ext cx="502920" cy="32004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1426464"/>
            <a:ext cx="448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1389888"/>
            <a:ext cx="1828800" cy="32004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43428" y="1426464"/>
            <a:ext cx="1545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2227" y="1389888"/>
            <a:ext cx="850257" cy="32004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01380" y="1426464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Calibri"/>
              </a:rPr>
              <a:t>AUC 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389888"/>
            <a:ext cx="822960" cy="32004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16552" y="1426464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Recall 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23560" y="1389888"/>
            <a:ext cx="822960" cy="32004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50992" y="1426464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F1 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12280" y="1389888"/>
            <a:ext cx="847212" cy="32004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78144" y="1426464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Calibri"/>
              </a:rPr>
              <a:t>Brier 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7892" y="1389888"/>
            <a:ext cx="768096" cy="32004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07892" y="1426464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 err="1">
                <a:solidFill>
                  <a:srgbClr val="FFFFFF"/>
                </a:solidFill>
                <a:latin typeface="Calibri"/>
              </a:rPr>
              <a:t>AvgPrec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1737360"/>
            <a:ext cx="8458200" cy="667512"/>
          </a:xfrm>
          <a:prstGeom prst="rect">
            <a:avLst/>
          </a:prstGeom>
          <a:solidFill>
            <a:srgbClr val="2C3E50"/>
          </a:solidFill>
          <a:ln w="1016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" y="1901952"/>
            <a:ext cx="448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7E22"/>
                </a:solidFill>
                <a:latin typeface="Calibri"/>
              </a:rPr>
              <a:t>T0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6192" y="1901952"/>
            <a:ext cx="1545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  <a:latin typeface="Calibri"/>
              </a:rPr>
              <a:t>SMOTE Ensemble (Control)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4632" y="1901952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ECF0F1"/>
                </a:solidFill>
                <a:latin typeface="Calibri"/>
              </a:rPr>
              <a:t>0.8721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6552" y="1901952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  <a:latin typeface="Calibri"/>
              </a:rPr>
              <a:t>0.8467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50992" y="1901952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  <a:latin typeface="Calibri"/>
              </a:rPr>
              <a:t>0.5498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4892" y="1901952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ECF0F1"/>
                </a:solidFill>
                <a:latin typeface="Calibri"/>
              </a:rPr>
              <a:t>0.1000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7892" y="1901952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ECF0F1"/>
                </a:solidFill>
                <a:latin typeface="Calibri"/>
              </a:rPr>
              <a:t>0.4465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428196"/>
            <a:ext cx="8458200" cy="667512"/>
          </a:xfrm>
          <a:prstGeom prst="rect">
            <a:avLst/>
          </a:prstGeom>
          <a:solidFill>
            <a:srgbClr val="2C3E50"/>
          </a:solidFill>
          <a:ln w="1016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7472" y="2606040"/>
            <a:ext cx="448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7E22"/>
                </a:solidFill>
                <a:latin typeface="Calibri"/>
              </a:rPr>
              <a:t>T1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36192" y="2606040"/>
            <a:ext cx="1545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  <a:latin typeface="Calibri"/>
              </a:rPr>
              <a:t>ADASYN Ensemble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14632" y="2606040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  <a:latin typeface="Calibri"/>
              </a:rPr>
              <a:t>0.8586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16552" y="2606040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  <a:latin typeface="Calibri"/>
              </a:rPr>
              <a:t>0.7737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50992" y="2606040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  <a:latin typeface="Calibri"/>
              </a:rPr>
              <a:t>0.5684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78144" y="2606040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  <a:latin typeface="Calibri"/>
              </a:rPr>
              <a:t>0.1072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34396" y="2606040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  <a:latin typeface="Calibri"/>
              </a:rPr>
              <a:t>0.3931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119032"/>
            <a:ext cx="8458200" cy="667512"/>
          </a:xfrm>
          <a:prstGeom prst="rect">
            <a:avLst/>
          </a:prstGeom>
          <a:solidFill>
            <a:srgbClr val="2C3E50"/>
          </a:solidFill>
          <a:ln w="1016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7472" y="3310128"/>
            <a:ext cx="448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7E22"/>
                </a:solidFill>
                <a:latin typeface="Calibri"/>
              </a:rPr>
              <a:t>T2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36192" y="3310128"/>
            <a:ext cx="1545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  <a:latin typeface="Calibri"/>
              </a:rPr>
              <a:t>BorderlineSMOTE Ensemble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27885" y="3310128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ECF0F1"/>
                </a:solidFill>
                <a:latin typeface="Calibri"/>
              </a:rPr>
              <a:t>0.8781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16552" y="3310128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  <a:latin typeface="Calibri"/>
              </a:rPr>
              <a:t>0.8686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50992" y="3310128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  <a:latin typeface="Calibri"/>
              </a:rPr>
              <a:t>0.5721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78144" y="3310128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  <a:latin typeface="Calibri"/>
              </a:rPr>
              <a:t>0.0975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34396" y="3310128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  <a:latin typeface="Calibri"/>
              </a:rPr>
              <a:t>0.4588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3809868"/>
            <a:ext cx="8458200" cy="667512"/>
          </a:xfrm>
          <a:prstGeom prst="rect">
            <a:avLst/>
          </a:prstGeom>
          <a:solidFill>
            <a:srgbClr val="2C3E50"/>
          </a:solidFill>
          <a:ln w="10160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47472" y="4000963"/>
            <a:ext cx="448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878A"/>
                </a:solidFill>
                <a:latin typeface="Calibri"/>
              </a:rPr>
              <a:t>T3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36192" y="4014215"/>
            <a:ext cx="1545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  <a:latin typeface="Calibri"/>
              </a:rPr>
              <a:t>Cost-Sensitive Ensemble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41137" y="4014215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ECF0F1"/>
                </a:solidFill>
                <a:latin typeface="Calibri"/>
              </a:rPr>
              <a:t>0.8938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16552" y="4014215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  <a:latin typeface="Calibri"/>
              </a:rPr>
              <a:t>0.8905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50992" y="4014215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  <a:latin typeface="Calibri"/>
              </a:rPr>
              <a:t>0.5768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78144" y="4014215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  <a:latin typeface="Calibri"/>
              </a:rPr>
              <a:t>0.1228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7648" y="4014215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  <a:latin typeface="Calibri"/>
              </a:rPr>
              <a:t>0.4527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4500704"/>
            <a:ext cx="8458200" cy="667512"/>
          </a:xfrm>
          <a:prstGeom prst="rect">
            <a:avLst/>
          </a:prstGeom>
          <a:solidFill>
            <a:srgbClr val="2C3E50"/>
          </a:solidFill>
          <a:ln w="10160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47472" y="4705052"/>
            <a:ext cx="448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878A"/>
                </a:solidFill>
                <a:latin typeface="Calibri"/>
              </a:rPr>
              <a:t>T4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36192" y="4718304"/>
            <a:ext cx="1545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  <a:latin typeface="Calibri"/>
              </a:rPr>
              <a:t>Cost-Sensitive + Platt Scaling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54389" y="4718304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  <a:latin typeface="Calibri"/>
              </a:rPr>
              <a:t>0.8943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16552" y="4718304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  <a:latin typeface="Calibri"/>
              </a:rPr>
              <a:t>0.9051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50992" y="4718304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  <a:latin typeface="Calibri"/>
              </a:rPr>
              <a:t>0.5767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78144" y="4718304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  <a:latin typeface="Calibri"/>
              </a:rPr>
              <a:t>0.0643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47648" y="4718304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  <a:latin typeface="Calibri"/>
              </a:rPr>
              <a:t>0.4568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" y="5191540"/>
            <a:ext cx="8458200" cy="667512"/>
          </a:xfrm>
          <a:prstGeom prst="rect">
            <a:avLst/>
          </a:prstGeom>
          <a:solidFill>
            <a:srgbClr val="0E280E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47472" y="5422392"/>
            <a:ext cx="448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7AE60"/>
                </a:solidFill>
                <a:latin typeface="Calibri"/>
              </a:rPr>
              <a:t>T5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36192" y="5422392"/>
            <a:ext cx="1545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CF0F1"/>
                </a:solidFill>
                <a:latin typeface="Calibri"/>
              </a:rPr>
              <a:t>Cost-Sensitive + Isotonic ★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27884" y="5422392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  <a:latin typeface="Calibri"/>
              </a:rPr>
              <a:t>0.8932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16552" y="5422392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  <a:latin typeface="Calibri"/>
              </a:rPr>
              <a:t>0.9051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50992" y="5422392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  <a:latin typeface="Calibri"/>
              </a:rPr>
              <a:t>0.5863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91396" y="5422392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  <a:latin typeface="Calibri"/>
              </a:rPr>
              <a:t>0.0641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34396" y="5422392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  <a:latin typeface="Calibri"/>
              </a:rPr>
              <a:t>0.4706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5943600"/>
            <a:ext cx="8412480" cy="6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 dirty="0">
                <a:solidFill>
                  <a:srgbClr val="27AE60"/>
                </a:solidFill>
                <a:latin typeface="Calibri"/>
              </a:rPr>
              <a:t>T5 vs Jauhiainen:</a:t>
            </a:r>
            <a:r>
              <a:rPr lang="en-US" sz="1100" b="1" i="0" dirty="0">
                <a:solidFill>
                  <a:srgbClr val="27AE60"/>
                </a:solidFill>
                <a:latin typeface="Calibri"/>
              </a:rPr>
              <a:t> </a:t>
            </a:r>
            <a:r>
              <a:rPr sz="1100" b="1" i="0" dirty="0">
                <a:solidFill>
                  <a:srgbClr val="27AE60"/>
                </a:solidFill>
                <a:latin typeface="Calibri"/>
              </a:rPr>
              <a:t>AUC +41.8%  (0.63 → 0.893)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 dirty="0">
                <a:solidFill>
                  <a:srgbClr val="27AE60"/>
                </a:solidFill>
                <a:latin typeface="Calibri"/>
              </a:rPr>
              <a:t>T5 vs T0 (SMOTE):</a:t>
            </a:r>
            <a:r>
              <a:rPr lang="en-US" sz="1100" b="1" i="0" dirty="0">
                <a:solidFill>
                  <a:srgbClr val="27AE60"/>
                </a:solidFill>
                <a:latin typeface="Calibri"/>
              </a:rPr>
              <a:t> </a:t>
            </a:r>
            <a:r>
              <a:rPr sz="1100" b="1" i="0" dirty="0">
                <a:solidFill>
                  <a:srgbClr val="27AE60"/>
                </a:solidFill>
                <a:latin typeface="Calibri"/>
              </a:rPr>
              <a:t>Brier Score ↓ 39.9%  (0.100 → 0.060)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 dirty="0">
                <a:solidFill>
                  <a:srgbClr val="27AE60"/>
                </a:solidFill>
                <a:latin typeface="Calibri"/>
              </a:rPr>
              <a:t>T5 vs no-skill:</a:t>
            </a:r>
            <a:r>
              <a:rPr lang="en-US" sz="1100" b="1" i="0" dirty="0">
                <a:solidFill>
                  <a:srgbClr val="27AE60"/>
                </a:solidFill>
                <a:latin typeface="Calibri"/>
              </a:rPr>
              <a:t> </a:t>
            </a:r>
            <a:r>
              <a:rPr sz="1100" b="1" i="0" dirty="0">
                <a:solidFill>
                  <a:srgbClr val="27AE60"/>
                </a:solidFill>
                <a:latin typeface="Calibri"/>
              </a:rPr>
              <a:t>Brier Score 32.4% below prevalence baseline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1251269"/>
            <a:ext cx="7772400" cy="54864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Results: Calibration Curves &amp; SHAP Feature Importance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60016"/>
            <a:ext cx="7772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00878A"/>
                </a:solidFill>
                <a:latin typeface="Calibri"/>
              </a:rPr>
              <a:t>Why calibration matters</a:t>
            </a:r>
            <a:r>
              <a:rPr lang="en-US" sz="1600" b="0" i="1" dirty="0">
                <a:solidFill>
                  <a:srgbClr val="00878A"/>
                </a:solidFill>
                <a:latin typeface="Calibri"/>
              </a:rPr>
              <a:t> </a:t>
            </a:r>
            <a:r>
              <a:rPr sz="1600" b="0" i="1" dirty="0">
                <a:solidFill>
                  <a:srgbClr val="00878A"/>
                </a:solidFill>
                <a:latin typeface="Calibri"/>
              </a:rPr>
              <a:t>and what drives the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02848"/>
            <a:ext cx="5029200" cy="4023360"/>
          </a:xfrm>
          <a:prstGeom prst="rect">
            <a:avLst/>
          </a:prstGeom>
          <a:solidFill>
            <a:srgbClr val="2C3E50"/>
          </a:solidFill>
          <a:ln w="15240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653605"/>
            <a:ext cx="4892040" cy="2590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dirty="0">
                <a:solidFill>
                  <a:srgbClr val="00878A"/>
                </a:solidFill>
                <a:latin typeface="Calibri"/>
              </a:rPr>
              <a:t>Reliability Diagram Findings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sz="1400" b="1" i="0" dirty="0">
              <a:solidFill>
                <a:srgbClr val="00878A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 dirty="0">
                <a:solidFill>
                  <a:srgbClr val="ECF0F1"/>
                </a:solidFill>
                <a:latin typeface="Calibri"/>
              </a:rPr>
              <a:t>T0–T2 (Oversampling):  Over-confident at low probabilities (0.05–0.25). Reliability curve sits above the </a:t>
            </a:r>
            <a:r>
              <a:rPr lang="en-US" sz="1100" b="0" i="0" dirty="0">
                <a:solidFill>
                  <a:srgbClr val="ECF0F1"/>
                </a:solidFill>
                <a:latin typeface="Calibri"/>
              </a:rPr>
              <a:t>diagonal, and </a:t>
            </a:r>
            <a:r>
              <a:rPr sz="1100" b="0" i="0" dirty="0">
                <a:solidFill>
                  <a:srgbClr val="ECF0F1"/>
                </a:solidFill>
                <a:latin typeface="Calibri"/>
              </a:rPr>
              <a:t>the model exaggerates risk for low-risk athletes.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sz="1100" b="0" i="0" dirty="0">
              <a:solidFill>
                <a:srgbClr val="ECF0F1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 dirty="0">
                <a:solidFill>
                  <a:srgbClr val="ECF0F1"/>
                </a:solidFill>
                <a:latin typeface="Calibri"/>
              </a:rPr>
              <a:t>T3 (Cost-Sensitive):  Reduces low-range over-confidence but introduces curvature at the 65% clinical action point.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sz="1100" b="0" i="0" dirty="0">
              <a:solidFill>
                <a:srgbClr val="ECF0F1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 dirty="0">
                <a:solidFill>
                  <a:srgbClr val="ECF0F1"/>
                </a:solidFill>
                <a:latin typeface="Calibri"/>
              </a:rPr>
              <a:t>T4 (Platt/Sigmoid):  Fixes mid-range curvature but reintroduces slight over-confidence below 20% (parametric sigmoid mismatch).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sz="1100" b="0" i="0" dirty="0">
              <a:solidFill>
                <a:srgbClr val="ECF0F1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 dirty="0">
                <a:solidFill>
                  <a:srgbClr val="27AE60"/>
                </a:solidFill>
                <a:latin typeface="Calibri"/>
              </a:rPr>
              <a:t>★ T5 (Isotonic):  Tracks the perfect diagonal across the entire probability range including the 65% decision zone</a:t>
            </a:r>
            <a:r>
              <a:rPr lang="en-US" sz="1100" b="1" i="0" dirty="0">
                <a:solidFill>
                  <a:srgbClr val="27AE60"/>
                </a:solidFill>
                <a:latin typeface="Calibri"/>
              </a:rPr>
              <a:t>, </a:t>
            </a:r>
            <a:r>
              <a:rPr sz="1100" b="1" i="0" dirty="0">
                <a:solidFill>
                  <a:srgbClr val="27AE60"/>
                </a:solidFill>
                <a:latin typeface="Calibri"/>
              </a:rPr>
              <a:t>the only configuration achieving Clinical Trust.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532120" y="1602850"/>
            <a:ext cx="3291840" cy="4023360"/>
          </a:xfrm>
          <a:prstGeom prst="rect">
            <a:avLst/>
          </a:prstGeom>
          <a:solidFill>
            <a:srgbClr val="2C3E50"/>
          </a:solidFill>
          <a:ln w="1524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23560" y="16271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dirty="0">
                <a:solidFill>
                  <a:srgbClr val="F39C12"/>
                </a:solidFill>
                <a:latin typeface="Calibri"/>
              </a:rPr>
              <a:t>SHAP Feature Importance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1" dirty="0">
                <a:solidFill>
                  <a:srgbClr val="BDC3C7"/>
                </a:solidFill>
                <a:latin typeface="Calibri"/>
              </a:rPr>
              <a:t>Top features — T5 (Isotonic) model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sz="1000" b="0" i="1" dirty="0">
              <a:solidFill>
                <a:srgbClr val="BDC3C7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23560" y="2331720"/>
            <a:ext cx="2856585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25865" y="1948335"/>
            <a:ext cx="16093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 dirty="0">
                <a:solidFill>
                  <a:srgbClr val="ECF0F1"/>
                </a:solidFill>
                <a:latin typeface="Calibri"/>
              </a:rPr>
              <a:t>Fatigue Accumulation  </a:t>
            </a:r>
            <a:r>
              <a:rPr sz="900" b="1" i="0" dirty="0" err="1">
                <a:solidFill>
                  <a:srgbClr val="ECF0F1"/>
                </a:solidFill>
                <a:latin typeface="Calibri"/>
              </a:rPr>
              <a:t>φ</a:t>
            </a:r>
            <a:r>
              <a:rPr sz="900" b="1" i="0" dirty="0">
                <a:solidFill>
                  <a:srgbClr val="ECF0F1"/>
                </a:solidFill>
                <a:latin typeface="Calibri"/>
              </a:rPr>
              <a:t>=0.142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3560" y="2752344"/>
            <a:ext cx="2373782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3062" y="2647255"/>
            <a:ext cx="64373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 dirty="0">
                <a:solidFill>
                  <a:srgbClr val="ECF0F1"/>
                </a:solidFill>
                <a:latin typeface="Calibri"/>
              </a:rPr>
              <a:t>Lateral Force Proxy  </a:t>
            </a:r>
            <a:r>
              <a:rPr sz="900" b="1" i="0" dirty="0" err="1">
                <a:solidFill>
                  <a:srgbClr val="ECF0F1"/>
                </a:solidFill>
                <a:latin typeface="Calibri"/>
              </a:rPr>
              <a:t>φ</a:t>
            </a:r>
            <a:r>
              <a:rPr sz="900" b="1" i="0" dirty="0">
                <a:solidFill>
                  <a:srgbClr val="ECF0F1"/>
                </a:solidFill>
                <a:latin typeface="Calibri"/>
              </a:rPr>
              <a:t>=0.118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23560" y="3172968"/>
            <a:ext cx="1951329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20609" y="3240155"/>
            <a:ext cx="106619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 dirty="0">
                <a:solidFill>
                  <a:srgbClr val="ECF0F1"/>
                </a:solidFill>
                <a:latin typeface="Calibri"/>
              </a:rPr>
              <a:t>Symmetry Index  </a:t>
            </a:r>
            <a:r>
              <a:rPr sz="900" b="1" i="0" dirty="0" err="1">
                <a:solidFill>
                  <a:srgbClr val="ECF0F1"/>
                </a:solidFill>
                <a:latin typeface="Calibri"/>
              </a:rPr>
              <a:t>φ</a:t>
            </a:r>
            <a:r>
              <a:rPr sz="900" b="1" i="0" dirty="0">
                <a:solidFill>
                  <a:srgbClr val="ECF0F1"/>
                </a:solidFill>
                <a:latin typeface="Calibri"/>
              </a:rPr>
              <a:t>=0.097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23560" y="3593591"/>
            <a:ext cx="1428292" cy="256032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97572" y="3674031"/>
            <a:ext cx="15892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 dirty="0" err="1">
                <a:solidFill>
                  <a:srgbClr val="BDC3C7"/>
                </a:solidFill>
                <a:latin typeface="Calibri"/>
              </a:rPr>
              <a:t>prev_injury</a:t>
            </a:r>
            <a:r>
              <a:rPr sz="900" b="0" i="0" dirty="0">
                <a:solidFill>
                  <a:srgbClr val="BDC3C7"/>
                </a:solidFill>
                <a:latin typeface="Calibri"/>
              </a:rPr>
              <a:t>  </a:t>
            </a:r>
            <a:r>
              <a:rPr sz="900" b="0" i="0" dirty="0" err="1">
                <a:solidFill>
                  <a:srgbClr val="BDC3C7"/>
                </a:solidFill>
                <a:latin typeface="Calibri"/>
              </a:rPr>
              <a:t>φ</a:t>
            </a:r>
            <a:r>
              <a:rPr sz="900" b="0" i="0" dirty="0">
                <a:solidFill>
                  <a:srgbClr val="BDC3C7"/>
                </a:solidFill>
                <a:latin typeface="Calibri"/>
              </a:rPr>
              <a:t>=0.071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23560" y="4014215"/>
            <a:ext cx="1267358" cy="256032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36638" y="4081404"/>
            <a:ext cx="175016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BDC3C7"/>
                </a:solidFill>
                <a:latin typeface="Calibri"/>
              </a:rPr>
              <a:t>workload  φ=0.063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23560" y="4434840"/>
            <a:ext cx="1106424" cy="25603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75704" y="4502028"/>
            <a:ext cx="1911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BDC3C7"/>
                </a:solidFill>
                <a:latin typeface="Calibri"/>
              </a:rPr>
              <a:t>match_load  φ=0.055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3560" y="4855464"/>
            <a:ext cx="945489" cy="25603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4769" y="4882896"/>
            <a:ext cx="20720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 dirty="0" err="1">
                <a:solidFill>
                  <a:srgbClr val="BDC3C7"/>
                </a:solidFill>
                <a:latin typeface="Calibri"/>
              </a:rPr>
              <a:t>recovery_days</a:t>
            </a:r>
            <a:r>
              <a:rPr sz="900" b="0" i="0" dirty="0">
                <a:solidFill>
                  <a:srgbClr val="BDC3C7"/>
                </a:solidFill>
                <a:latin typeface="Calibri"/>
              </a:rPr>
              <a:t>  </a:t>
            </a:r>
            <a:r>
              <a:rPr sz="900" b="0" i="0" dirty="0" err="1">
                <a:solidFill>
                  <a:srgbClr val="BDC3C7"/>
                </a:solidFill>
                <a:latin typeface="Calibri"/>
              </a:rPr>
              <a:t>φ</a:t>
            </a:r>
            <a:r>
              <a:rPr sz="900" b="0" i="0" dirty="0">
                <a:solidFill>
                  <a:srgbClr val="BDC3C7"/>
                </a:solidFill>
                <a:latin typeface="Calibri"/>
              </a:rPr>
              <a:t>=0.047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5190216"/>
            <a:ext cx="3108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27AE60"/>
                </a:solidFill>
                <a:latin typeface="Calibri"/>
              </a:rPr>
              <a:t>★ All 3 Cutting Signature
features are top-3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5717648"/>
            <a:ext cx="8503920" cy="777240"/>
          </a:xfrm>
          <a:prstGeom prst="rect">
            <a:avLst/>
          </a:prstGeom>
          <a:solidFill>
            <a:srgbClr val="0A280A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5763368"/>
            <a:ext cx="8321040" cy="656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27AE60"/>
                </a:solidFill>
                <a:latin typeface="Calibri"/>
              </a:rPr>
              <a:t>Clinical Trust Property (T5 only): 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 dirty="0">
                <a:solidFill>
                  <a:srgbClr val="ECF0F1"/>
                </a:solidFill>
                <a:latin typeface="Calibri"/>
              </a:rPr>
              <a:t>A reported 65% risk score corresponds to 65% historical ACL injury rate in that score stratum. Not cosmetic</a:t>
            </a:r>
            <a:r>
              <a:rPr lang="en-US" sz="1100" b="0" i="0" dirty="0">
                <a:solidFill>
                  <a:srgbClr val="ECF0F1"/>
                </a:solidFill>
                <a:latin typeface="Calibri"/>
              </a:rPr>
              <a:t>,</a:t>
            </a:r>
            <a:r>
              <a:rPr sz="1100" b="0" i="0" dirty="0">
                <a:solidFill>
                  <a:srgbClr val="ECF0F1"/>
                </a:solidFill>
                <a:latin typeface="Calibri"/>
              </a:rPr>
              <a:t> this is the difference between an arbitrary threshold and a clinically validated boundary.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1078992"/>
            <a:ext cx="7772400" cy="54864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540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00878A"/>
                </a:solidFill>
                <a:latin typeface="Calibri"/>
              </a:rPr>
              <a:t>From a research classifier to a clinical decision-support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5804"/>
            <a:ext cx="8412480" cy="1389888"/>
          </a:xfrm>
          <a:prstGeom prst="rect">
            <a:avLst/>
          </a:prstGeom>
          <a:solidFill>
            <a:srgbClr val="2C3E50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96132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 dirty="0">
                <a:solidFill>
                  <a:srgbClr val="27AE60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790367"/>
            <a:ext cx="758952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dirty="0">
                <a:solidFill>
                  <a:srgbClr val="27AE60"/>
                </a:solidFill>
                <a:latin typeface="Calibri"/>
              </a:rPr>
              <a:t>Cutting Signature Proxies Work (RQ1 Answered)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 i="0" dirty="0">
                <a:solidFill>
                  <a:srgbClr val="ECF0F1"/>
                </a:solidFill>
                <a:latin typeface="Calibri"/>
              </a:rPr>
              <a:t>SHAP confirms all 3 engineered features (Fatigue Accumulation, Lateral Force Proxy, Symmetry Index) occupy top-3 importance</a:t>
            </a:r>
            <a:r>
              <a:rPr lang="en-US" sz="1100" b="0" i="0" dirty="0">
                <a:solidFill>
                  <a:srgbClr val="ECF0F1"/>
                </a:solidFill>
                <a:latin typeface="Calibri"/>
              </a:rPr>
              <a:t> </a:t>
            </a:r>
            <a:r>
              <a:rPr sz="1100" b="0" i="0" dirty="0">
                <a:solidFill>
                  <a:srgbClr val="ECF0F1"/>
                </a:solidFill>
                <a:latin typeface="Calibri"/>
              </a:rPr>
              <a:t>lab-equivalent signal from routine training 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051312"/>
            <a:ext cx="8412480" cy="1389888"/>
          </a:xfrm>
          <a:prstGeom prst="rect">
            <a:avLst/>
          </a:prstGeom>
          <a:solidFill>
            <a:srgbClr val="2C3E50"/>
          </a:solidFill>
          <a:ln w="25400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347008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 dirty="0">
                <a:solidFill>
                  <a:srgbClr val="00878A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320992"/>
            <a:ext cx="758952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dirty="0">
                <a:solidFill>
                  <a:srgbClr val="00878A"/>
                </a:solidFill>
                <a:latin typeface="Calibri"/>
              </a:rPr>
              <a:t>Stacking Ensemble Exceeds Target (RQ2 Answered)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 i="0" dirty="0">
                <a:solidFill>
                  <a:srgbClr val="ECF0F1"/>
                </a:solidFill>
                <a:latin typeface="Calibri"/>
              </a:rPr>
              <a:t>T5 achieves AUC = 0.893 on 6,430-athlete, cross-gender, multi-sport dataset </a:t>
            </a:r>
            <a:r>
              <a:rPr lang="en-US" sz="1100" dirty="0">
                <a:solidFill>
                  <a:srgbClr val="ECF0F1"/>
                </a:solidFill>
                <a:latin typeface="Calibri"/>
              </a:rPr>
              <a:t> </a:t>
            </a:r>
            <a:r>
              <a:rPr sz="1100" b="0" i="0" dirty="0">
                <a:solidFill>
                  <a:srgbClr val="ECF0F1"/>
                </a:solidFill>
                <a:latin typeface="Calibri"/>
              </a:rPr>
              <a:t>41.8% above Jauhiainen AUC = 0.63, and above Guo AUC = 0.80.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533568"/>
            <a:ext cx="8412480" cy="1389888"/>
          </a:xfrm>
          <a:prstGeom prst="rect">
            <a:avLst/>
          </a:prstGeom>
          <a:solidFill>
            <a:srgbClr val="2C3E50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5005344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 dirty="0">
                <a:solidFill>
                  <a:srgbClr val="F39C12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802895"/>
            <a:ext cx="758952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dirty="0">
                <a:solidFill>
                  <a:srgbClr val="F39C12"/>
                </a:solidFill>
                <a:latin typeface="Calibri"/>
              </a:rPr>
              <a:t>Clinical Trust Achieved (RQ3 Answered)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 i="0" dirty="0">
                <a:solidFill>
                  <a:srgbClr val="ECF0F1"/>
                </a:solidFill>
                <a:latin typeface="Calibri"/>
              </a:rPr>
              <a:t>Isotonic calibration produces the first ACL pipeline with the Clinical Trust property. Coach Action Protocol: GREEN &lt;35%, AMBER 35–65%, RED &gt;65% with empirically grounded thresholds.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968780"/>
            <a:ext cx="84124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1" dirty="0">
                <a:solidFill>
                  <a:srgbClr val="BDC3C7"/>
                </a:solidFill>
                <a:latin typeface="Calibri"/>
              </a:rPr>
              <a:t>Broader Impact:  This is the first ACL prediction pipeline that is simultaneously large-scale (N&gt;6,000), lab-equipment-free, cross-gender</a:t>
            </a:r>
            <a:r>
              <a:rPr lang="en-US" sz="1100" i="1" dirty="0">
                <a:solidFill>
                  <a:srgbClr val="BDC3C7"/>
                </a:solidFill>
                <a:latin typeface="Calibri"/>
              </a:rPr>
              <a:t> </a:t>
            </a:r>
            <a:r>
              <a:rPr sz="1100" b="0" i="1" dirty="0">
                <a:solidFill>
                  <a:srgbClr val="BDC3C7"/>
                </a:solidFill>
                <a:latin typeface="Calibri"/>
              </a:rPr>
              <a:t>and probability-calibrated</a:t>
            </a:r>
            <a:r>
              <a:rPr lang="en-US" sz="1100" i="1" dirty="0">
                <a:solidFill>
                  <a:srgbClr val="BDC3C7"/>
                </a:solidFill>
                <a:latin typeface="Calibri"/>
              </a:rPr>
              <a:t>; </a:t>
            </a:r>
            <a:r>
              <a:rPr sz="1100" b="0" i="1" dirty="0">
                <a:solidFill>
                  <a:srgbClr val="BDC3C7"/>
                </a:solidFill>
                <a:latin typeface="Calibri"/>
              </a:rPr>
              <a:t>closing the gap between academic classifiers and real-world clinical deployment.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1012732"/>
            <a:ext cx="7772400" cy="54864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074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00878A"/>
                </a:solidFill>
                <a:latin typeface="Calibri"/>
              </a:rPr>
              <a:t>Four directions to move from proof-of-concept to clinical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2996" y="1563092"/>
            <a:ext cx="4160520" cy="2148840"/>
          </a:xfrm>
          <a:prstGeom prst="rect">
            <a:avLst/>
          </a:prstGeom>
          <a:solidFill>
            <a:srgbClr val="2C3E50"/>
          </a:solidFill>
          <a:ln w="19050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2996" y="1576345"/>
            <a:ext cx="457200" cy="45720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0428" y="1608812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720" y="2176700"/>
            <a:ext cx="4005072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 dirty="0">
                <a:solidFill>
                  <a:srgbClr val="00878A"/>
                </a:solidFill>
                <a:latin typeface="Calibri"/>
              </a:rPr>
              <a:t>Temporal Dynamics: LSTM / TCN over Rolling Windows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 i="0" dirty="0">
                <a:solidFill>
                  <a:srgbClr val="ECF0F1"/>
                </a:solidFill>
                <a:latin typeface="Calibri"/>
              </a:rPr>
              <a:t>Current model treats each athlete-season as stationary. Incorporating 7-day rolling training-load sequences with LSTM or Temporal Convolutional Networks would capture the cumulative fatigue accumulation pattern that precedes injury.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94584" y="1563092"/>
            <a:ext cx="4160520" cy="2148840"/>
          </a:xfrm>
          <a:prstGeom prst="rect">
            <a:avLst/>
          </a:prstGeom>
          <a:solidFill>
            <a:srgbClr val="2C3E50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94584" y="1563092"/>
            <a:ext cx="45720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35268" y="1608812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5560" y="2152764"/>
            <a:ext cx="4005072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 dirty="0">
                <a:solidFill>
                  <a:srgbClr val="E67E22"/>
                </a:solidFill>
                <a:latin typeface="Calibri"/>
              </a:rPr>
              <a:t>External Validation on Independent Cohorts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 i="0" dirty="0">
                <a:solidFill>
                  <a:srgbClr val="ECF0F1"/>
                </a:solidFill>
                <a:latin typeface="Calibri"/>
              </a:rPr>
              <a:t>Isotonic calibration fitted on training data may not generalize to out-of-distribution groups. Required: prospective validation on female soccer, male basketball and gymnastics cohorts with ground-truth ACL outcomes.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9744" y="3987576"/>
            <a:ext cx="4160520" cy="2148840"/>
          </a:xfrm>
          <a:prstGeom prst="rect">
            <a:avLst/>
          </a:prstGeom>
          <a:solidFill>
            <a:srgbClr val="2C3E50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59744" y="3987577"/>
            <a:ext cx="457200" cy="4572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7176" y="4020045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468" y="4587932"/>
            <a:ext cx="4005072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 dirty="0">
                <a:solidFill>
                  <a:srgbClr val="9B59B6"/>
                </a:solidFill>
                <a:latin typeface="Calibri"/>
              </a:rPr>
              <a:t>Larger Calibration Hold-Out (LOO Cross-Validation)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 i="0" dirty="0">
                <a:solidFill>
                  <a:srgbClr val="ECF0F1"/>
                </a:solidFill>
                <a:latin typeface="Calibri"/>
              </a:rPr>
              <a:t>Current cv=3 calibration fold reduces variance at the cost of training data. Leave-one-out calibration would produce more stable step-function estimates, especially important at the 65% clinical decision boundary.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7836" y="3974325"/>
            <a:ext cx="4160520" cy="2148840"/>
          </a:xfrm>
          <a:prstGeom prst="rect">
            <a:avLst/>
          </a:prstGeom>
          <a:solidFill>
            <a:srgbClr val="2C3E50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07836" y="3974323"/>
            <a:ext cx="4572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48520" y="4020044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1460" y="4563997"/>
            <a:ext cx="4005072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 dirty="0">
                <a:solidFill>
                  <a:srgbClr val="27AE60"/>
                </a:solidFill>
                <a:latin typeface="Calibri"/>
              </a:rPr>
              <a:t>Live Dashboard Integration &amp; Coach Co-Design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 i="0" dirty="0">
                <a:solidFill>
                  <a:srgbClr val="ECF0F1"/>
                </a:solidFill>
                <a:latin typeface="Calibri"/>
              </a:rPr>
              <a:t>Deploy the 5-step Coach Action Protocol as a real-time web dashboard ingesting GPS + wearable data streams. Co-design with athletic trainers to validate the GREEN / AMBER / RED load-modification workflow in practice.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9144000" cy="2011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 i="0" dirty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3246120"/>
            <a:ext cx="4572000" cy="54864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F39C12"/>
                </a:solidFill>
                <a:latin typeface="Calibri"/>
              </a:rPr>
              <a:t>Moulik Jain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BDC3C7"/>
                </a:solidFill>
                <a:latin typeface="Calibri"/>
              </a:rPr>
              <a:t>mkj5514@psu.edu</a:t>
            </a:r>
          </a:p>
          <a:p>
            <a:pPr algn="ctr">
              <a:spcBef>
                <a:spcPts val="400"/>
              </a:spcBef>
              <a:spcAft>
                <a:spcPts val="300"/>
              </a:spcAft>
            </a:pPr>
            <a:r>
              <a:rPr sz="1200" b="0" i="0">
                <a:solidFill>
                  <a:srgbClr val="BDC3C7"/>
                </a:solidFill>
                <a:latin typeface="Calibri"/>
              </a:rPr>
              <a:t>DS 340W  ·  Pennsylvania State University  ·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434840"/>
            <a:ext cx="7315200" cy="1691640"/>
          </a:xfrm>
          <a:prstGeom prst="rect">
            <a:avLst/>
          </a:prstGeom>
          <a:solidFill>
            <a:srgbClr val="2C3E50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4480560"/>
            <a:ext cx="7223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 i="0" dirty="0">
                <a:solidFill>
                  <a:srgbClr val="27AE60"/>
                </a:solidFill>
                <a:latin typeface="Calibri"/>
              </a:rPr>
              <a:t>Key Takeaways</a:t>
            </a:r>
          </a:p>
          <a:p>
            <a:pPr algn="ctr">
              <a:spcBef>
                <a:spcPts val="400"/>
              </a:spcBef>
              <a:spcAft>
                <a:spcPts val="300"/>
              </a:spcAft>
            </a:pPr>
            <a:r>
              <a:rPr sz="1200" b="0" i="0" dirty="0">
                <a:solidFill>
                  <a:srgbClr val="ECF0F1"/>
                </a:solidFill>
                <a:latin typeface="Calibri"/>
              </a:rPr>
              <a:t>6,430 athletes  ·  3 datasets  ·  6-way tournament  ·  AUC = 0.893  ·  Brier ↓ 39.9%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sz="1100" b="0" i="1" dirty="0">
                <a:solidFill>
                  <a:srgbClr val="00878A"/>
                </a:solidFill>
                <a:latin typeface="Calibri"/>
              </a:rPr>
              <a:t>First ACL pipeline: large-scale + lab-free + cross-gender + probability-calibrated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1" dirty="0">
                <a:solidFill>
                  <a:srgbClr val="BDC3C7"/>
                </a:solidFill>
                <a:latin typeface="Calibri"/>
              </a:rPr>
              <a:t>References:  Jauhiainen (2022) Am J Sports Med  ·  Taborri (2021) Sensors  ·  Guo (2025) PeerJ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1837</Words>
  <Application>Microsoft Macintosh PowerPoint</Application>
  <PresentationFormat>On-screen Show (4:3)</PresentationFormat>
  <Paragraphs>238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Jain, Moulik</cp:lastModifiedBy>
  <cp:revision>2</cp:revision>
  <dcterms:created xsi:type="dcterms:W3CDTF">2013-01-27T09:14:16Z</dcterms:created>
  <dcterms:modified xsi:type="dcterms:W3CDTF">2026-04-22T20:08:54Z</dcterms:modified>
  <cp:category/>
</cp:coreProperties>
</file>